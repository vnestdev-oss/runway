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Arial" charset="1" panose="020B0604020202020204"/>
      <p:regular r:id="rId14"/>
    </p:embeddedFont>
    <p:embeddedFont>
      <p:font typeface="Trade Gothic" charset="1" panose="020B0503040303020004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171793" y="311208"/>
            <a:ext cx="2781461" cy="1081679"/>
          </a:xfrm>
          <a:custGeom>
            <a:avLst/>
            <a:gdLst/>
            <a:ahLst/>
            <a:cxnLst/>
            <a:rect r="r" b="b" t="t" l="l"/>
            <a:pathLst>
              <a:path h="1081679" w="2781461">
                <a:moveTo>
                  <a:pt x="0" y="0"/>
                </a:moveTo>
                <a:lnTo>
                  <a:pt x="2781461" y="0"/>
                </a:lnTo>
                <a:lnTo>
                  <a:pt x="2781461" y="1081679"/>
                </a:lnTo>
                <a:lnTo>
                  <a:pt x="0" y="108167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94095" y="177390"/>
            <a:ext cx="2558942" cy="1215497"/>
          </a:xfrm>
          <a:custGeom>
            <a:avLst/>
            <a:gdLst/>
            <a:ahLst/>
            <a:cxnLst/>
            <a:rect r="r" b="b" t="t" l="l"/>
            <a:pathLst>
              <a:path h="1215497" w="2558942">
                <a:moveTo>
                  <a:pt x="0" y="0"/>
                </a:moveTo>
                <a:lnTo>
                  <a:pt x="2558942" y="0"/>
                </a:lnTo>
                <a:lnTo>
                  <a:pt x="2558942" y="1215497"/>
                </a:lnTo>
                <a:lnTo>
                  <a:pt x="0" y="121549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473566" y="2789873"/>
            <a:ext cx="14355296" cy="4678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</a:p>
          <a:p>
            <a:pPr algn="just" marL="777240" indent="-388620" lvl="1">
              <a:lnSpc>
                <a:spcPts val="8640"/>
              </a:lnSpc>
              <a:buAutoNum type="arabicPeriod" startAt="1"/>
            </a:pPr>
            <a:r>
              <a:rPr lang="en-US" sz="3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Startup / Idea Name</a:t>
            </a:r>
          </a:p>
          <a:p>
            <a:pPr algn="just" marL="777240" indent="-388620" lvl="1">
              <a:lnSpc>
                <a:spcPts val="8640"/>
              </a:lnSpc>
              <a:buAutoNum type="arabicPeriod" startAt="1"/>
            </a:pPr>
            <a:r>
              <a:rPr lang="en-US" sz="3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Co-founders / Team Member Details</a:t>
            </a:r>
          </a:p>
          <a:p>
            <a:pPr algn="just" marL="777240" indent="-388620" lvl="1">
              <a:lnSpc>
                <a:spcPts val="8640"/>
              </a:lnSpc>
              <a:buAutoNum type="arabicPeriod" startAt="1"/>
            </a:pPr>
            <a:r>
              <a:rPr lang="en-US" sz="3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Roles and Skills</a:t>
            </a:r>
          </a:p>
          <a:p>
            <a:pPr algn="just">
              <a:lnSpc>
                <a:spcPts val="8640"/>
              </a:lnSpc>
            </a:pPr>
          </a:p>
        </p:txBody>
      </p:sp>
      <p:grpSp>
        <p:nvGrpSpPr>
          <p:cNvPr name="Group 5" id="5"/>
          <p:cNvGrpSpPr/>
          <p:nvPr/>
        </p:nvGrpSpPr>
        <p:grpSpPr>
          <a:xfrm rot="0">
            <a:off x="0" y="9532143"/>
            <a:ext cx="18287998" cy="754857"/>
            <a:chOff x="0" y="0"/>
            <a:chExt cx="24383998" cy="100647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6457881" y="9630354"/>
            <a:ext cx="5372238" cy="558435"/>
            <a:chOff x="0" y="0"/>
            <a:chExt cx="7025124" cy="7302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025123" cy="730250"/>
            </a:xfrm>
            <a:custGeom>
              <a:avLst/>
              <a:gdLst/>
              <a:ahLst/>
              <a:cxnLst/>
              <a:rect r="r" b="b" t="t" l="l"/>
              <a:pathLst>
                <a:path h="730250" w="7025123">
                  <a:moveTo>
                    <a:pt x="0" y="0"/>
                  </a:moveTo>
                  <a:lnTo>
                    <a:pt x="7025123" y="0"/>
                  </a:lnTo>
                  <a:lnTo>
                    <a:pt x="7025123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7025124" cy="768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Trade Gothic"/>
                  <a:ea typeface="Trade Gothic"/>
                  <a:cs typeface="Trade Gothic"/>
                  <a:sym typeface="Trade Gothic"/>
                </a:rPr>
                <a:t>@Runway 2025: Pre-Incubation Program by VNEST</a:t>
              </a: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7365095" y="386715"/>
            <a:ext cx="3557811" cy="641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sz="3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Introductory Slide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171793" y="311208"/>
            <a:ext cx="2781461" cy="1081679"/>
          </a:xfrm>
          <a:custGeom>
            <a:avLst/>
            <a:gdLst/>
            <a:ahLst/>
            <a:cxnLst/>
            <a:rect r="r" b="b" t="t" l="l"/>
            <a:pathLst>
              <a:path h="1081679" w="2781461">
                <a:moveTo>
                  <a:pt x="0" y="0"/>
                </a:moveTo>
                <a:lnTo>
                  <a:pt x="2781461" y="0"/>
                </a:lnTo>
                <a:lnTo>
                  <a:pt x="2781461" y="1081679"/>
                </a:lnTo>
                <a:lnTo>
                  <a:pt x="0" y="108167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94095" y="177390"/>
            <a:ext cx="2558942" cy="1215497"/>
          </a:xfrm>
          <a:custGeom>
            <a:avLst/>
            <a:gdLst/>
            <a:ahLst/>
            <a:cxnLst/>
            <a:rect r="r" b="b" t="t" l="l"/>
            <a:pathLst>
              <a:path h="1215497" w="2558942">
                <a:moveTo>
                  <a:pt x="0" y="0"/>
                </a:moveTo>
                <a:lnTo>
                  <a:pt x="2558942" y="0"/>
                </a:lnTo>
                <a:lnTo>
                  <a:pt x="2558942" y="1215497"/>
                </a:lnTo>
                <a:lnTo>
                  <a:pt x="0" y="121549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473566" y="2789873"/>
            <a:ext cx="14355296" cy="4678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</a:p>
          <a:p>
            <a:pPr algn="just" marL="777240" indent="-388620" lvl="1">
              <a:lnSpc>
                <a:spcPts val="8640"/>
              </a:lnSpc>
              <a:buAutoNum type="arabicPeriod" startAt="1"/>
            </a:pPr>
            <a:r>
              <a:rPr lang="en-US" sz="3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What problem are y</a:t>
            </a:r>
            <a:r>
              <a:rPr lang="en-US" sz="3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ou solving?</a:t>
            </a:r>
          </a:p>
          <a:p>
            <a:pPr algn="just" marL="777240" indent="-388620" lvl="1">
              <a:lnSpc>
                <a:spcPts val="8640"/>
              </a:lnSpc>
              <a:buAutoNum type="arabicPeriod" startAt="1"/>
            </a:pPr>
            <a:r>
              <a:rPr lang="en-US" sz="3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Who faces this problem?</a:t>
            </a:r>
          </a:p>
          <a:p>
            <a:pPr algn="just" marL="777240" indent="-388620" lvl="1">
              <a:lnSpc>
                <a:spcPts val="8640"/>
              </a:lnSpc>
              <a:buAutoNum type="arabicPeriod" startAt="1"/>
            </a:pPr>
            <a:r>
              <a:rPr lang="en-US" sz="3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Why does it matter?</a:t>
            </a:r>
          </a:p>
          <a:p>
            <a:pPr algn="just">
              <a:lnSpc>
                <a:spcPts val="8640"/>
              </a:lnSpc>
            </a:pPr>
          </a:p>
        </p:txBody>
      </p:sp>
      <p:grpSp>
        <p:nvGrpSpPr>
          <p:cNvPr name="Group 5" id="5"/>
          <p:cNvGrpSpPr/>
          <p:nvPr/>
        </p:nvGrpSpPr>
        <p:grpSpPr>
          <a:xfrm rot="0">
            <a:off x="0" y="9532143"/>
            <a:ext cx="18287998" cy="754857"/>
            <a:chOff x="0" y="0"/>
            <a:chExt cx="24383998" cy="100647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6457881" y="9630354"/>
            <a:ext cx="5372238" cy="558435"/>
            <a:chOff x="0" y="0"/>
            <a:chExt cx="7025124" cy="7302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025123" cy="730250"/>
            </a:xfrm>
            <a:custGeom>
              <a:avLst/>
              <a:gdLst/>
              <a:ahLst/>
              <a:cxnLst/>
              <a:rect r="r" b="b" t="t" l="l"/>
              <a:pathLst>
                <a:path h="730250" w="7025123">
                  <a:moveTo>
                    <a:pt x="0" y="0"/>
                  </a:moveTo>
                  <a:lnTo>
                    <a:pt x="7025123" y="0"/>
                  </a:lnTo>
                  <a:lnTo>
                    <a:pt x="7025123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7025124" cy="768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Trade Gothic"/>
                  <a:ea typeface="Trade Gothic"/>
                  <a:cs typeface="Trade Gothic"/>
                  <a:sym typeface="Trade Gothic"/>
                </a:rPr>
                <a:t>@Runway 2025: Pre-Incubation Program by VNEST</a:t>
              </a: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7187282" y="386715"/>
            <a:ext cx="3913436" cy="641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sz="3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Problem Statement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171793" y="311208"/>
            <a:ext cx="2781461" cy="1081679"/>
          </a:xfrm>
          <a:custGeom>
            <a:avLst/>
            <a:gdLst/>
            <a:ahLst/>
            <a:cxnLst/>
            <a:rect r="r" b="b" t="t" l="l"/>
            <a:pathLst>
              <a:path h="1081679" w="2781461">
                <a:moveTo>
                  <a:pt x="0" y="0"/>
                </a:moveTo>
                <a:lnTo>
                  <a:pt x="2781461" y="0"/>
                </a:lnTo>
                <a:lnTo>
                  <a:pt x="2781461" y="1081679"/>
                </a:lnTo>
                <a:lnTo>
                  <a:pt x="0" y="108167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94095" y="177390"/>
            <a:ext cx="2558942" cy="1215497"/>
          </a:xfrm>
          <a:custGeom>
            <a:avLst/>
            <a:gdLst/>
            <a:ahLst/>
            <a:cxnLst/>
            <a:rect r="r" b="b" t="t" l="l"/>
            <a:pathLst>
              <a:path h="1215497" w="2558942">
                <a:moveTo>
                  <a:pt x="0" y="0"/>
                </a:moveTo>
                <a:lnTo>
                  <a:pt x="2558942" y="0"/>
                </a:lnTo>
                <a:lnTo>
                  <a:pt x="2558942" y="1215497"/>
                </a:lnTo>
                <a:lnTo>
                  <a:pt x="0" y="121549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473566" y="2789873"/>
            <a:ext cx="14355296" cy="4678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</a:p>
          <a:p>
            <a:pPr algn="just" marL="777240" indent="-388620" lvl="1">
              <a:lnSpc>
                <a:spcPts val="8640"/>
              </a:lnSpc>
              <a:buAutoNum type="arabicPeriod" startAt="1"/>
            </a:pPr>
            <a:r>
              <a:rPr lang="en-US" sz="3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Describe y</a:t>
            </a:r>
            <a:r>
              <a:rPr lang="en-US" sz="3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our solution</a:t>
            </a:r>
          </a:p>
          <a:p>
            <a:pPr algn="just" marL="777240" indent="-388620" lvl="1">
              <a:lnSpc>
                <a:spcPts val="8640"/>
              </a:lnSpc>
              <a:buAutoNum type="arabicPeriod" startAt="1"/>
            </a:pPr>
            <a:r>
              <a:rPr lang="en-US" sz="3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Key value proposition</a:t>
            </a:r>
          </a:p>
          <a:p>
            <a:pPr algn="just" marL="777240" indent="-388620" lvl="1">
              <a:lnSpc>
                <a:spcPts val="8640"/>
              </a:lnSpc>
              <a:buAutoNum type="arabicPeriod" startAt="1"/>
            </a:pPr>
            <a:r>
              <a:rPr lang="en-US" sz="3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How it solves the problem</a:t>
            </a:r>
          </a:p>
          <a:p>
            <a:pPr algn="just">
              <a:lnSpc>
                <a:spcPts val="8640"/>
              </a:lnSpc>
            </a:pPr>
          </a:p>
        </p:txBody>
      </p:sp>
      <p:grpSp>
        <p:nvGrpSpPr>
          <p:cNvPr name="Group 5" id="5"/>
          <p:cNvGrpSpPr/>
          <p:nvPr/>
        </p:nvGrpSpPr>
        <p:grpSpPr>
          <a:xfrm rot="0">
            <a:off x="0" y="9532143"/>
            <a:ext cx="18287998" cy="754857"/>
            <a:chOff x="0" y="0"/>
            <a:chExt cx="24383998" cy="100647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6457881" y="9630354"/>
            <a:ext cx="5372238" cy="558435"/>
            <a:chOff x="0" y="0"/>
            <a:chExt cx="7025124" cy="7302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025123" cy="730250"/>
            </a:xfrm>
            <a:custGeom>
              <a:avLst/>
              <a:gdLst/>
              <a:ahLst/>
              <a:cxnLst/>
              <a:rect r="r" b="b" t="t" l="l"/>
              <a:pathLst>
                <a:path h="730250" w="7025123">
                  <a:moveTo>
                    <a:pt x="0" y="0"/>
                  </a:moveTo>
                  <a:lnTo>
                    <a:pt x="7025123" y="0"/>
                  </a:lnTo>
                  <a:lnTo>
                    <a:pt x="7025123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7025124" cy="768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Trade Gothic"/>
                  <a:ea typeface="Trade Gothic"/>
                  <a:cs typeface="Trade Gothic"/>
                  <a:sym typeface="Trade Gothic"/>
                </a:rPr>
                <a:t>@Runway 2025: Pre-Incubation Program by VNEST</a:t>
              </a: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7275798" y="386715"/>
            <a:ext cx="3736404" cy="641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sz="3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Proposed Solution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171793" y="311208"/>
            <a:ext cx="2781461" cy="1081679"/>
          </a:xfrm>
          <a:custGeom>
            <a:avLst/>
            <a:gdLst/>
            <a:ahLst/>
            <a:cxnLst/>
            <a:rect r="r" b="b" t="t" l="l"/>
            <a:pathLst>
              <a:path h="1081679" w="2781461">
                <a:moveTo>
                  <a:pt x="0" y="0"/>
                </a:moveTo>
                <a:lnTo>
                  <a:pt x="2781461" y="0"/>
                </a:lnTo>
                <a:lnTo>
                  <a:pt x="2781461" y="1081679"/>
                </a:lnTo>
                <a:lnTo>
                  <a:pt x="0" y="108167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94095" y="177390"/>
            <a:ext cx="2558942" cy="1215497"/>
          </a:xfrm>
          <a:custGeom>
            <a:avLst/>
            <a:gdLst/>
            <a:ahLst/>
            <a:cxnLst/>
            <a:rect r="r" b="b" t="t" l="l"/>
            <a:pathLst>
              <a:path h="1215497" w="2558942">
                <a:moveTo>
                  <a:pt x="0" y="0"/>
                </a:moveTo>
                <a:lnTo>
                  <a:pt x="2558942" y="0"/>
                </a:lnTo>
                <a:lnTo>
                  <a:pt x="2558942" y="1215497"/>
                </a:lnTo>
                <a:lnTo>
                  <a:pt x="0" y="121549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473566" y="2789873"/>
            <a:ext cx="14355296" cy="4678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</a:p>
          <a:p>
            <a:pPr algn="just" marL="777240" indent="-388620" lvl="1">
              <a:lnSpc>
                <a:spcPts val="8640"/>
              </a:lnSpc>
              <a:buAutoNum type="arabicPeriod" startAt="1"/>
            </a:pPr>
            <a:r>
              <a:rPr lang="en-US" sz="3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</a:t>
            </a:r>
            <a:r>
              <a:rPr lang="en-US" sz="3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 are the users?</a:t>
            </a:r>
          </a:p>
          <a:p>
            <a:pPr algn="just" marL="777240" indent="-388620" lvl="1">
              <a:lnSpc>
                <a:spcPts val="8640"/>
              </a:lnSpc>
              <a:buAutoNum type="arabicPeriod" startAt="1"/>
            </a:pPr>
            <a:r>
              <a:rPr lang="en-US" sz="3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Market segment</a:t>
            </a:r>
          </a:p>
          <a:p>
            <a:pPr algn="just" marL="777240" indent="-388620" lvl="1">
              <a:lnSpc>
                <a:spcPts val="8640"/>
              </a:lnSpc>
              <a:buAutoNum type="arabicPeriod" startAt="1"/>
            </a:pPr>
            <a:r>
              <a:rPr lang="en-US" sz="3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Approximate market size</a:t>
            </a:r>
          </a:p>
          <a:p>
            <a:pPr algn="just">
              <a:lnSpc>
                <a:spcPts val="8640"/>
              </a:lnSpc>
            </a:pPr>
          </a:p>
        </p:txBody>
      </p:sp>
      <p:grpSp>
        <p:nvGrpSpPr>
          <p:cNvPr name="Group 5" id="5"/>
          <p:cNvGrpSpPr/>
          <p:nvPr/>
        </p:nvGrpSpPr>
        <p:grpSpPr>
          <a:xfrm rot="0">
            <a:off x="0" y="9532143"/>
            <a:ext cx="18287998" cy="754857"/>
            <a:chOff x="0" y="0"/>
            <a:chExt cx="24383998" cy="100647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6457881" y="9630354"/>
            <a:ext cx="5372238" cy="558435"/>
            <a:chOff x="0" y="0"/>
            <a:chExt cx="7025124" cy="7302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025123" cy="730250"/>
            </a:xfrm>
            <a:custGeom>
              <a:avLst/>
              <a:gdLst/>
              <a:ahLst/>
              <a:cxnLst/>
              <a:rect r="r" b="b" t="t" l="l"/>
              <a:pathLst>
                <a:path h="730250" w="7025123">
                  <a:moveTo>
                    <a:pt x="0" y="0"/>
                  </a:moveTo>
                  <a:lnTo>
                    <a:pt x="7025123" y="0"/>
                  </a:lnTo>
                  <a:lnTo>
                    <a:pt x="7025123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7025124" cy="768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Trade Gothic"/>
                  <a:ea typeface="Trade Gothic"/>
                  <a:cs typeface="Trade Gothic"/>
                  <a:sym typeface="Trade Gothic"/>
                </a:rPr>
                <a:t>@Runway 2025: Pre-Incubation Program by VNEST</a:t>
              </a: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6870055" y="386715"/>
            <a:ext cx="4547890" cy="641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sz="3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</a:t>
            </a:r>
            <a:r>
              <a:rPr lang="en-US" sz="3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rget Users &amp; Market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171793" y="311208"/>
            <a:ext cx="2781461" cy="1081679"/>
          </a:xfrm>
          <a:custGeom>
            <a:avLst/>
            <a:gdLst/>
            <a:ahLst/>
            <a:cxnLst/>
            <a:rect r="r" b="b" t="t" l="l"/>
            <a:pathLst>
              <a:path h="1081679" w="2781461">
                <a:moveTo>
                  <a:pt x="0" y="0"/>
                </a:moveTo>
                <a:lnTo>
                  <a:pt x="2781461" y="0"/>
                </a:lnTo>
                <a:lnTo>
                  <a:pt x="2781461" y="1081679"/>
                </a:lnTo>
                <a:lnTo>
                  <a:pt x="0" y="108167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94095" y="177390"/>
            <a:ext cx="2558942" cy="1215497"/>
          </a:xfrm>
          <a:custGeom>
            <a:avLst/>
            <a:gdLst/>
            <a:ahLst/>
            <a:cxnLst/>
            <a:rect r="r" b="b" t="t" l="l"/>
            <a:pathLst>
              <a:path h="1215497" w="2558942">
                <a:moveTo>
                  <a:pt x="0" y="0"/>
                </a:moveTo>
                <a:lnTo>
                  <a:pt x="2558942" y="0"/>
                </a:lnTo>
                <a:lnTo>
                  <a:pt x="2558942" y="1215497"/>
                </a:lnTo>
                <a:lnTo>
                  <a:pt x="0" y="121549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473566" y="2789873"/>
            <a:ext cx="14355296" cy="3583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</a:p>
          <a:p>
            <a:pPr algn="just" marL="777240" indent="-388620" lvl="1">
              <a:lnSpc>
                <a:spcPts val="8640"/>
              </a:lnSpc>
              <a:buAutoNum type="arabicPeriod" startAt="1"/>
            </a:pPr>
            <a:r>
              <a:rPr lang="en-US" sz="3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What</a:t>
            </a:r>
            <a:r>
              <a:rPr lang="en-US" sz="3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makes it unique?</a:t>
            </a:r>
          </a:p>
          <a:p>
            <a:pPr algn="just" marL="777240" indent="-388620" lvl="1">
              <a:lnSpc>
                <a:spcPts val="8640"/>
              </a:lnSpc>
              <a:buAutoNum type="arabicPeriod" startAt="1"/>
            </a:pPr>
            <a:r>
              <a:rPr lang="en-US" sz="3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How is it different from existing solutions?</a:t>
            </a:r>
          </a:p>
          <a:p>
            <a:pPr algn="just">
              <a:lnSpc>
                <a:spcPts val="8640"/>
              </a:lnSpc>
            </a:pPr>
          </a:p>
        </p:txBody>
      </p:sp>
      <p:grpSp>
        <p:nvGrpSpPr>
          <p:cNvPr name="Group 5" id="5"/>
          <p:cNvGrpSpPr/>
          <p:nvPr/>
        </p:nvGrpSpPr>
        <p:grpSpPr>
          <a:xfrm rot="0">
            <a:off x="0" y="9532143"/>
            <a:ext cx="18287998" cy="754857"/>
            <a:chOff x="0" y="0"/>
            <a:chExt cx="24383998" cy="100647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6457881" y="9630354"/>
            <a:ext cx="5372238" cy="558435"/>
            <a:chOff x="0" y="0"/>
            <a:chExt cx="7025124" cy="7302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025123" cy="730250"/>
            </a:xfrm>
            <a:custGeom>
              <a:avLst/>
              <a:gdLst/>
              <a:ahLst/>
              <a:cxnLst/>
              <a:rect r="r" b="b" t="t" l="l"/>
              <a:pathLst>
                <a:path h="730250" w="7025123">
                  <a:moveTo>
                    <a:pt x="0" y="0"/>
                  </a:moveTo>
                  <a:lnTo>
                    <a:pt x="7025123" y="0"/>
                  </a:lnTo>
                  <a:lnTo>
                    <a:pt x="7025123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7025124" cy="768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Trade Gothic"/>
                  <a:ea typeface="Trade Gothic"/>
                  <a:cs typeface="Trade Gothic"/>
                  <a:sym typeface="Trade Gothic"/>
                </a:rPr>
                <a:t>@Runway 2025: Pre-Incubation Program by VNEST</a:t>
              </a: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6403256" y="386715"/>
            <a:ext cx="5481489" cy="641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sz="3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Innova</a:t>
            </a:r>
            <a:r>
              <a:rPr lang="en-US" sz="3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tion &amp; Differentiation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171793" y="311208"/>
            <a:ext cx="2781461" cy="1081679"/>
          </a:xfrm>
          <a:custGeom>
            <a:avLst/>
            <a:gdLst/>
            <a:ahLst/>
            <a:cxnLst/>
            <a:rect r="r" b="b" t="t" l="l"/>
            <a:pathLst>
              <a:path h="1081679" w="2781461">
                <a:moveTo>
                  <a:pt x="0" y="0"/>
                </a:moveTo>
                <a:lnTo>
                  <a:pt x="2781461" y="0"/>
                </a:lnTo>
                <a:lnTo>
                  <a:pt x="2781461" y="1081679"/>
                </a:lnTo>
                <a:lnTo>
                  <a:pt x="0" y="108167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94095" y="177390"/>
            <a:ext cx="2558942" cy="1215497"/>
          </a:xfrm>
          <a:custGeom>
            <a:avLst/>
            <a:gdLst/>
            <a:ahLst/>
            <a:cxnLst/>
            <a:rect r="r" b="b" t="t" l="l"/>
            <a:pathLst>
              <a:path h="1215497" w="2558942">
                <a:moveTo>
                  <a:pt x="0" y="0"/>
                </a:moveTo>
                <a:lnTo>
                  <a:pt x="2558942" y="0"/>
                </a:lnTo>
                <a:lnTo>
                  <a:pt x="2558942" y="1215497"/>
                </a:lnTo>
                <a:lnTo>
                  <a:pt x="0" y="121549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473566" y="2789873"/>
            <a:ext cx="14355296" cy="4678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</a:p>
          <a:p>
            <a:pPr algn="just" marL="777240" indent="-388620" lvl="1">
              <a:lnSpc>
                <a:spcPts val="8640"/>
              </a:lnSpc>
              <a:buAutoNum type="arabicPeriod" startAt="1"/>
            </a:pPr>
            <a:r>
              <a:rPr lang="en-US" sz="3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Current Stage and how will</a:t>
            </a:r>
            <a:r>
              <a:rPr lang="en-US" sz="3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you build it further?</a:t>
            </a:r>
          </a:p>
          <a:p>
            <a:pPr algn="just" marL="777240" indent="-388620" lvl="1">
              <a:lnSpc>
                <a:spcPts val="8640"/>
              </a:lnSpc>
              <a:buAutoNum type="arabicPeriod" startAt="1"/>
            </a:pPr>
            <a:r>
              <a:rPr lang="en-US" sz="3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Technologies involved</a:t>
            </a:r>
          </a:p>
          <a:p>
            <a:pPr algn="just" marL="777240" indent="-388620" lvl="1">
              <a:lnSpc>
                <a:spcPts val="8640"/>
              </a:lnSpc>
              <a:buAutoNum type="arabicPeriod" startAt="1"/>
            </a:pPr>
            <a:r>
              <a:rPr lang="en-US" sz="3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Next 3–6 month milestones</a:t>
            </a:r>
          </a:p>
          <a:p>
            <a:pPr algn="just">
              <a:lnSpc>
                <a:spcPts val="8640"/>
              </a:lnSpc>
            </a:pPr>
          </a:p>
        </p:txBody>
      </p:sp>
      <p:grpSp>
        <p:nvGrpSpPr>
          <p:cNvPr name="Group 5" id="5"/>
          <p:cNvGrpSpPr/>
          <p:nvPr/>
        </p:nvGrpSpPr>
        <p:grpSpPr>
          <a:xfrm rot="0">
            <a:off x="0" y="9532143"/>
            <a:ext cx="18287998" cy="754857"/>
            <a:chOff x="0" y="0"/>
            <a:chExt cx="24383998" cy="100647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6457881" y="9630354"/>
            <a:ext cx="5372238" cy="558435"/>
            <a:chOff x="0" y="0"/>
            <a:chExt cx="7025124" cy="7302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025123" cy="730250"/>
            </a:xfrm>
            <a:custGeom>
              <a:avLst/>
              <a:gdLst/>
              <a:ahLst/>
              <a:cxnLst/>
              <a:rect r="r" b="b" t="t" l="l"/>
              <a:pathLst>
                <a:path h="730250" w="7025123">
                  <a:moveTo>
                    <a:pt x="0" y="0"/>
                  </a:moveTo>
                  <a:lnTo>
                    <a:pt x="7025123" y="0"/>
                  </a:lnTo>
                  <a:lnTo>
                    <a:pt x="7025123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7025124" cy="768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Trade Gothic"/>
                  <a:ea typeface="Trade Gothic"/>
                  <a:cs typeface="Trade Gothic"/>
                  <a:sym typeface="Trade Gothic"/>
                </a:rPr>
                <a:t>@Runway 2025: Pre-Incubation Program by VNEST</a:t>
              </a: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6323223" y="386715"/>
            <a:ext cx="5641553" cy="641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sz="3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Feasibili</a:t>
            </a:r>
            <a:r>
              <a:rPr lang="en-US" sz="3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ty &amp; Execution Plan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171793" y="311208"/>
            <a:ext cx="2781461" cy="1081679"/>
          </a:xfrm>
          <a:custGeom>
            <a:avLst/>
            <a:gdLst/>
            <a:ahLst/>
            <a:cxnLst/>
            <a:rect r="r" b="b" t="t" l="l"/>
            <a:pathLst>
              <a:path h="1081679" w="2781461">
                <a:moveTo>
                  <a:pt x="0" y="0"/>
                </a:moveTo>
                <a:lnTo>
                  <a:pt x="2781461" y="0"/>
                </a:lnTo>
                <a:lnTo>
                  <a:pt x="2781461" y="1081679"/>
                </a:lnTo>
                <a:lnTo>
                  <a:pt x="0" y="108167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94095" y="177390"/>
            <a:ext cx="2558942" cy="1215497"/>
          </a:xfrm>
          <a:custGeom>
            <a:avLst/>
            <a:gdLst/>
            <a:ahLst/>
            <a:cxnLst/>
            <a:rect r="r" b="b" t="t" l="l"/>
            <a:pathLst>
              <a:path h="1215497" w="2558942">
                <a:moveTo>
                  <a:pt x="0" y="0"/>
                </a:moveTo>
                <a:lnTo>
                  <a:pt x="2558942" y="0"/>
                </a:lnTo>
                <a:lnTo>
                  <a:pt x="2558942" y="1215497"/>
                </a:lnTo>
                <a:lnTo>
                  <a:pt x="0" y="121549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473566" y="2789873"/>
            <a:ext cx="14355296" cy="4678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</a:p>
          <a:p>
            <a:pPr algn="just" marL="777240" indent="-388620" lvl="1">
              <a:lnSpc>
                <a:spcPts val="8640"/>
              </a:lnSpc>
              <a:buAutoNum type="arabicPeriod" startAt="1"/>
            </a:pPr>
            <a:r>
              <a:rPr lang="en-US" sz="3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Revenue or impact</a:t>
            </a:r>
            <a:r>
              <a:rPr lang="en-US" sz="3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model</a:t>
            </a:r>
          </a:p>
          <a:p>
            <a:pPr algn="just" marL="777240" indent="-388620" lvl="1">
              <a:lnSpc>
                <a:spcPts val="8640"/>
              </a:lnSpc>
              <a:buAutoNum type="arabicPeriod" startAt="1"/>
            </a:pPr>
            <a:r>
              <a:rPr lang="en-US" sz="3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Scalability</a:t>
            </a:r>
          </a:p>
          <a:p>
            <a:pPr algn="just" marL="777240" indent="-388620" lvl="1">
              <a:lnSpc>
                <a:spcPts val="8640"/>
              </a:lnSpc>
              <a:buAutoNum type="arabicPeriod" startAt="1"/>
            </a:pPr>
            <a:r>
              <a:rPr lang="en-US" sz="3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Long-term vision</a:t>
            </a:r>
          </a:p>
          <a:p>
            <a:pPr algn="just">
              <a:lnSpc>
                <a:spcPts val="8640"/>
              </a:lnSpc>
            </a:pPr>
          </a:p>
        </p:txBody>
      </p:sp>
      <p:grpSp>
        <p:nvGrpSpPr>
          <p:cNvPr name="Group 5" id="5"/>
          <p:cNvGrpSpPr/>
          <p:nvPr/>
        </p:nvGrpSpPr>
        <p:grpSpPr>
          <a:xfrm rot="0">
            <a:off x="0" y="9532143"/>
            <a:ext cx="18287998" cy="754857"/>
            <a:chOff x="0" y="0"/>
            <a:chExt cx="24383998" cy="100647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6457881" y="9630354"/>
            <a:ext cx="5372238" cy="558435"/>
            <a:chOff x="0" y="0"/>
            <a:chExt cx="7025124" cy="7302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025123" cy="730250"/>
            </a:xfrm>
            <a:custGeom>
              <a:avLst/>
              <a:gdLst/>
              <a:ahLst/>
              <a:cxnLst/>
              <a:rect r="r" b="b" t="t" l="l"/>
              <a:pathLst>
                <a:path h="730250" w="7025123">
                  <a:moveTo>
                    <a:pt x="0" y="0"/>
                  </a:moveTo>
                  <a:lnTo>
                    <a:pt x="7025123" y="0"/>
                  </a:lnTo>
                  <a:lnTo>
                    <a:pt x="7025123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7025124" cy="768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Trade Gothic"/>
                  <a:ea typeface="Trade Gothic"/>
                  <a:cs typeface="Trade Gothic"/>
                  <a:sym typeface="Trade Gothic"/>
                </a:rPr>
                <a:t>@Runway 2025: Pre-Incubation Program by VNEST</a:t>
              </a: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6653733" y="386715"/>
            <a:ext cx="4980533" cy="641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sz="3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Business</a:t>
            </a:r>
            <a:r>
              <a:rPr lang="en-US" sz="3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/ Impact Model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171793" y="311208"/>
            <a:ext cx="2781461" cy="1081679"/>
          </a:xfrm>
          <a:custGeom>
            <a:avLst/>
            <a:gdLst/>
            <a:ahLst/>
            <a:cxnLst/>
            <a:rect r="r" b="b" t="t" l="l"/>
            <a:pathLst>
              <a:path h="1081679" w="2781461">
                <a:moveTo>
                  <a:pt x="0" y="0"/>
                </a:moveTo>
                <a:lnTo>
                  <a:pt x="2781461" y="0"/>
                </a:lnTo>
                <a:lnTo>
                  <a:pt x="2781461" y="1081679"/>
                </a:lnTo>
                <a:lnTo>
                  <a:pt x="0" y="108167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94095" y="177390"/>
            <a:ext cx="2558942" cy="1215497"/>
          </a:xfrm>
          <a:custGeom>
            <a:avLst/>
            <a:gdLst/>
            <a:ahLst/>
            <a:cxnLst/>
            <a:rect r="r" b="b" t="t" l="l"/>
            <a:pathLst>
              <a:path h="1215497" w="2558942">
                <a:moveTo>
                  <a:pt x="0" y="0"/>
                </a:moveTo>
                <a:lnTo>
                  <a:pt x="2558942" y="0"/>
                </a:lnTo>
                <a:lnTo>
                  <a:pt x="2558942" y="1215497"/>
                </a:lnTo>
                <a:lnTo>
                  <a:pt x="0" y="121549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932702" y="4203310"/>
            <a:ext cx="14355296" cy="2080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8640"/>
              </a:lnSpc>
            </a:pPr>
            <a:r>
              <a:rPr lang="en-US" sz="3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Add any supporting material that doesn’t fit elsewhere.</a:t>
            </a:r>
          </a:p>
          <a:p>
            <a:pPr algn="just">
              <a:lnSpc>
                <a:spcPts val="8640"/>
              </a:lnSpc>
            </a:pPr>
          </a:p>
        </p:txBody>
      </p:sp>
      <p:grpSp>
        <p:nvGrpSpPr>
          <p:cNvPr name="Group 5" id="5"/>
          <p:cNvGrpSpPr/>
          <p:nvPr/>
        </p:nvGrpSpPr>
        <p:grpSpPr>
          <a:xfrm rot="0">
            <a:off x="0" y="9532143"/>
            <a:ext cx="18287998" cy="754857"/>
            <a:chOff x="0" y="0"/>
            <a:chExt cx="24383998" cy="100647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6457881" y="9630354"/>
            <a:ext cx="5372238" cy="558435"/>
            <a:chOff x="0" y="0"/>
            <a:chExt cx="7025124" cy="7302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025123" cy="730250"/>
            </a:xfrm>
            <a:custGeom>
              <a:avLst/>
              <a:gdLst/>
              <a:ahLst/>
              <a:cxnLst/>
              <a:rect r="r" b="b" t="t" l="l"/>
              <a:pathLst>
                <a:path h="730250" w="7025123">
                  <a:moveTo>
                    <a:pt x="0" y="0"/>
                  </a:moveTo>
                  <a:lnTo>
                    <a:pt x="7025123" y="0"/>
                  </a:lnTo>
                  <a:lnTo>
                    <a:pt x="7025123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7025124" cy="768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Trade Gothic"/>
                  <a:ea typeface="Trade Gothic"/>
                  <a:cs typeface="Trade Gothic"/>
                  <a:sym typeface="Trade Gothic"/>
                </a:rPr>
                <a:t>@Runway 2025: Pre-Incubation Program by VNEST</a:t>
              </a: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7657319" y="386715"/>
            <a:ext cx="2973363" cy="641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sz="3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Slide for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DAGzn_mWQuo</dc:identifier>
  <dcterms:modified xsi:type="dcterms:W3CDTF">2011-08-01T06:04:30Z</dcterms:modified>
  <cp:revision>1</cp:revision>
  <dc:title>Runway-Template.pptx</dc:title>
</cp:coreProperties>
</file>